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4630400" cy="8229600"/>
  <p:notesSz cx="8229600" cy="14630400"/>
  <p:embeddedFontLst>
    <p:embeddedFont>
      <p:font typeface="Playfair Display Semi Bold" panose="020B0604020202020204" charset="0"/>
      <p:regular r:id="rId13"/>
    </p:embeddedFont>
    <p:embeddedFont>
      <p:font typeface="Public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4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4482-146A-B5AE-B8B6-2AEF88CA4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4F420-847F-799F-AA99-7FB7720F9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69E51-348C-C8A0-316A-B3CF3A02A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EA14-03AC-A0D2-F3F1-773FE74EC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1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1700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Challenges in Urban Complaint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27753"/>
            <a:ext cx="75564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Citizens face </a:t>
            </a: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difficulty reporting civic issues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Complaints are often </a:t>
            </a: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misrouted to wrong departments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Lack of </a:t>
            </a: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real-time tracking and transparency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Delayed resolution</a:t>
            </a: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due to manual processing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Duplicate and spam complaints </a:t>
            </a: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overload the system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09677-AD7A-F204-A242-077A039D0B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6" t="1695" r="2329" b="2087"/>
          <a:stretch>
            <a:fillRect/>
          </a:stretch>
        </p:blipFill>
        <p:spPr>
          <a:xfrm>
            <a:off x="9255607" y="0"/>
            <a:ext cx="537479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0463"/>
            <a:ext cx="106524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CitySync – Intelligent Complaint Routing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12871"/>
            <a:ext cx="4196358" cy="5366147"/>
          </a:xfrm>
          <a:prstGeom prst="roundRect">
            <a:avLst>
              <a:gd name="adj" fmla="val 2270"/>
            </a:avLst>
          </a:prstGeom>
          <a:solidFill>
            <a:srgbClr val="E1C2C2">
              <a:alpha val="50000"/>
            </a:srgbClr>
          </a:solidFill>
          <a:ln w="7620">
            <a:solidFill>
              <a:srgbClr val="C7A8A8"/>
            </a:solidFill>
            <a:prstDash val="solid"/>
          </a:ln>
          <a:effectLst>
            <a:outerShdw dist="2921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2247305"/>
            <a:ext cx="35886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1. Smart Complaint Capture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273772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Citizens can submit complaints via: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236714"/>
            <a:ext cx="3727490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interface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WhatsApp / SMS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417790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Supports </a:t>
            </a:r>
            <a:r>
              <a:rPr lang="en-US" sz="17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text descriptions + image uploads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503979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Automatically captures </a:t>
            </a:r>
            <a:r>
              <a:rPr lang="en-US" sz="17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location (geo-tagging)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012871"/>
            <a:ext cx="4196358" cy="5366147"/>
          </a:xfrm>
          <a:prstGeom prst="roundRect">
            <a:avLst>
              <a:gd name="adj" fmla="val 2270"/>
            </a:avLst>
          </a:prstGeom>
          <a:solidFill>
            <a:srgbClr val="CCC4EC">
              <a:alpha val="50000"/>
            </a:srgbClr>
          </a:solidFill>
          <a:ln w="7620">
            <a:solidFill>
              <a:srgbClr val="B2AAD2"/>
            </a:solidFill>
            <a:prstDash val="solid"/>
          </a:ln>
          <a:effectLst>
            <a:outerShdw dist="29210" dir="2700000" algn="bl" rotWithShape="0">
              <a:srgbClr val="B2AA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51396" y="2247305"/>
            <a:ext cx="372749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🔹 2. AI-Based Issue Understanding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51396" y="310729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Uses </a:t>
            </a:r>
            <a:r>
              <a:rPr lang="en-US" sz="17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Natural Language Processing (NLP)</a:t>
            </a: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 analyze complaint text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451396" y="433208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Uses </a:t>
            </a:r>
            <a:r>
              <a:rPr lang="en-US" sz="17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image recognition</a:t>
            </a: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(optional) to identify issues like potholes, garbage, etc.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51396" y="555688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Automatically classifies complaints into categories: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451396" y="641877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Roads, Sanitation, Water, Electricity, etc.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012871"/>
            <a:ext cx="4196358" cy="5366147"/>
          </a:xfrm>
          <a:prstGeom prst="roundRect">
            <a:avLst>
              <a:gd name="adj" fmla="val 2270"/>
            </a:avLst>
          </a:prstGeom>
          <a:solidFill>
            <a:srgbClr val="B4DAE4">
              <a:alpha val="50000"/>
            </a:srgbClr>
          </a:solidFill>
          <a:ln w="7620">
            <a:solidFill>
              <a:srgbClr val="9AC0CA"/>
            </a:solidFill>
            <a:prstDash val="solid"/>
          </a:ln>
          <a:effectLst>
            <a:outerShdw dist="29210" dir="2700000" algn="bl" rotWithShape="0">
              <a:srgbClr val="9AC0CA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874568" y="2247305"/>
            <a:ext cx="372749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🔹 3. Intelligent Routing Engine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4568" y="310729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Maps each complaint to the </a:t>
            </a:r>
            <a:r>
              <a:rPr lang="en-US" sz="17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correct municipal department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874568" y="3969187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Uses: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874568" y="4468178"/>
            <a:ext cx="3727490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Issue category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Location zone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874568" y="540936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Ensures </a:t>
            </a:r>
            <a:r>
              <a:rPr lang="en-US" sz="17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manual intervention and no misrouting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8A72-ED58-55FF-1480-707B53C96BA4}"/>
              </a:ext>
            </a:extLst>
          </p:cNvPr>
          <p:cNvSpPr/>
          <p:nvPr/>
        </p:nvSpPr>
        <p:spPr>
          <a:xfrm>
            <a:off x="12603480" y="7561421"/>
            <a:ext cx="2026920" cy="66817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6128"/>
            <a:ext cx="11633954" cy="746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🔹</a:t>
            </a: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Priority Detection and Duplicate Filtering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06635"/>
            <a:ext cx="6407944" cy="4216718"/>
          </a:xfrm>
          <a:prstGeom prst="roundRect">
            <a:avLst>
              <a:gd name="adj" fmla="val 2259"/>
            </a:avLst>
          </a:prstGeom>
          <a:solidFill>
            <a:srgbClr val="E1C2C2">
              <a:alpha val="50000"/>
            </a:srgbClr>
          </a:solidFill>
          <a:ln w="7620">
            <a:solidFill>
              <a:srgbClr val="C7A8A8"/>
            </a:solidFill>
            <a:prstDash val="solid"/>
          </a:ln>
          <a:effectLst>
            <a:outerShdw dist="2921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2841069"/>
            <a:ext cx="434220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4. Priority Detection System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028224" y="340244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Assigns priority levels: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901440"/>
            <a:ext cx="593907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🔴 High (safety risk)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🟡 Medium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🟢 Low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5284827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Based on: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5783818"/>
            <a:ext cx="593907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Severity keywords (e.g., accident, danger)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Number of similar complaints in the same area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606635"/>
            <a:ext cx="6408063" cy="4216718"/>
          </a:xfrm>
          <a:prstGeom prst="roundRect">
            <a:avLst>
              <a:gd name="adj" fmla="val 2259"/>
            </a:avLst>
          </a:prstGeom>
          <a:solidFill>
            <a:srgbClr val="CCC4EC">
              <a:alpha val="50000"/>
            </a:srgbClr>
          </a:solidFill>
          <a:ln w="7620">
            <a:solidFill>
              <a:srgbClr val="B2AAD2"/>
            </a:solidFill>
            <a:prstDash val="solid"/>
          </a:ln>
          <a:effectLst>
            <a:outerShdw dist="29210" dir="2700000" algn="bl" rotWithShape="0">
              <a:srgbClr val="B2AA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62982" y="2841069"/>
            <a:ext cx="487287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5. Duplicate and Spam Filtering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62982" y="340244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Detects similar complaints using: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62982" y="3901440"/>
            <a:ext cx="5939195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Text similarity (AI embeddings)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Location clustering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62982" y="484262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Merges duplicates into one ticket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62982" y="534162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Prevents </a:t>
            </a:r>
            <a:r>
              <a:rPr lang="en-US" sz="17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system overload and redundancy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48ED36-A7A0-68FE-0376-EBE50AF5691C}"/>
              </a:ext>
            </a:extLst>
          </p:cNvPr>
          <p:cNvSpPr/>
          <p:nvPr/>
        </p:nvSpPr>
        <p:spPr>
          <a:xfrm>
            <a:off x="12603480" y="7561421"/>
            <a:ext cx="2026920" cy="66817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9780"/>
            <a:ext cx="11018758" cy="746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🔹</a:t>
            </a: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Real-Time Tracking &amp; Communication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00288"/>
            <a:ext cx="4196358" cy="4829413"/>
          </a:xfrm>
          <a:prstGeom prst="roundRect">
            <a:avLst>
              <a:gd name="adj" fmla="val 2270"/>
            </a:avLst>
          </a:prstGeom>
          <a:solidFill>
            <a:srgbClr val="FFFAF6"/>
          </a:solidFill>
          <a:ln w="30480">
            <a:solidFill>
              <a:srgbClr val="E1C2C2"/>
            </a:solidFill>
            <a:prstDash val="solid"/>
          </a:ln>
          <a:effectLst>
            <a:outerShdw dist="29210" dir="2700000" algn="bl" rotWithShape="0">
              <a:srgbClr val="E1C2C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51084" y="2557582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6. Real-Time Tracking &amp; Transparency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40233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Users can track complaints via dashboard: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51084" y="426422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Pending → In Progress → Resolved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51084" y="5126117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Provides: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51084" y="5625108"/>
            <a:ext cx="368177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Status updates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Assigned department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Estimated resolution time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300288"/>
            <a:ext cx="4196358" cy="4829413"/>
          </a:xfrm>
          <a:prstGeom prst="roundRect">
            <a:avLst>
              <a:gd name="adj" fmla="val 2270"/>
            </a:avLst>
          </a:prstGeom>
          <a:solidFill>
            <a:srgbClr val="FFFAF6"/>
          </a:solidFill>
          <a:ln w="30480">
            <a:solidFill>
              <a:srgbClr val="CCC4EC"/>
            </a:solidFill>
            <a:prstDash val="solid"/>
          </a:ln>
          <a:effectLst>
            <a:outerShdw dist="29210" dir="2700000" algn="bl" rotWithShape="0">
              <a:srgbClr val="CCC4E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74256" y="2557582"/>
            <a:ext cx="35356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7. Map-Based Visualization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74256" y="304800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Displays complaints on a </a:t>
            </a: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 city map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474256" y="390989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Helps identify: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74256" y="4408884"/>
            <a:ext cx="3681770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Problem hotspots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High-priority zones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2300288"/>
            <a:ext cx="4196358" cy="4829413"/>
          </a:xfrm>
          <a:prstGeom prst="roundRect">
            <a:avLst>
              <a:gd name="adj" fmla="val 2270"/>
            </a:avLst>
          </a:prstGeom>
          <a:solidFill>
            <a:srgbClr val="FFFAF6"/>
          </a:solidFill>
          <a:ln w="30480">
            <a:solidFill>
              <a:srgbClr val="B4DAE4"/>
            </a:solidFill>
            <a:prstDash val="solid"/>
          </a:ln>
          <a:effectLst>
            <a:outerShdw dist="29210" dir="2700000" algn="bl" rotWithShape="0">
              <a:srgbClr val="B4DAE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897427" y="2557582"/>
            <a:ext cx="3651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8. Seamless Communication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897427" y="30480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Integration with </a:t>
            </a: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WhatsApp &amp; SMS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97427" y="354699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Users receive: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897427" y="4045982"/>
            <a:ext cx="368177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Complaint confirmation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Status updates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Resolution notifications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E9F31F-E402-1D28-530B-824CEDB9B7B0}"/>
              </a:ext>
            </a:extLst>
          </p:cNvPr>
          <p:cNvSpPr/>
          <p:nvPr/>
        </p:nvSpPr>
        <p:spPr>
          <a:xfrm>
            <a:off x="12603480" y="7561421"/>
            <a:ext cx="2026920" cy="66817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8034"/>
            <a:ext cx="7746206" cy="746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⚙️</a:t>
            </a: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Key Features Implemented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61854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618542"/>
            <a:ext cx="34266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Smart Issue Classification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108960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NLP + image processing to detect issue type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61854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6185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Intelligent Routing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108960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Auto-assigns complaint based on category &amp; location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28839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288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AI Priority Detection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4778812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Identifies urgent issues using severity &amp; frequency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288393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288393"/>
            <a:ext cx="3757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Spam &amp; Duplicate Detection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4778812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Uses similarity matching &amp; location clustering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595342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44253" y="55953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Citizen Dashboard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644253" y="6085761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Tracks complaint status (Pending, In Progress, Resolved)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595342"/>
            <a:ext cx="566976" cy="5669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07348" y="55953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Map Visualization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307348" y="6085761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Geo-tagged complaints for city-wide monitoring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F8F17A-F65B-754A-EB3D-3AE6E765CA1C}"/>
              </a:ext>
            </a:extLst>
          </p:cNvPr>
          <p:cNvSpPr/>
          <p:nvPr/>
        </p:nvSpPr>
        <p:spPr>
          <a:xfrm>
            <a:off x="12603480" y="7561421"/>
            <a:ext cx="2026920" cy="66817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74715"/>
            <a:ext cx="5306020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⚙️</a:t>
            </a:r>
            <a:r>
              <a:rPr lang="en-US" sz="37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Further Key Features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2351" y="1533763"/>
            <a:ext cx="13205579" cy="1932742"/>
          </a:xfrm>
          <a:prstGeom prst="roundRect">
            <a:avLst>
              <a:gd name="adj" fmla="val 4159"/>
            </a:avLst>
          </a:prstGeom>
          <a:solidFill>
            <a:srgbClr val="FFFAF6"/>
          </a:solidFill>
          <a:ln w="22860">
            <a:solidFill>
              <a:srgbClr val="E1C2C2"/>
            </a:solidFill>
            <a:prstDash val="solid"/>
          </a:ln>
          <a:effectLst>
            <a:outerShdw dist="24130" dir="2700000" algn="bl" rotWithShape="0">
              <a:srgbClr val="E1C2C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5211" y="1556623"/>
            <a:ext cx="13159859" cy="574119"/>
          </a:xfrm>
          <a:prstGeom prst="roundRect">
            <a:avLst>
              <a:gd name="adj" fmla="val 9223"/>
            </a:avLst>
          </a:prstGeom>
          <a:solidFill>
            <a:srgbClr val="E1C2C2">
              <a:alpha val="50000"/>
            </a:srgbClr>
          </a:solidFill>
          <a:ln/>
          <a:effectLst>
            <a:outerShdw dist="2413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1611" y="1696283"/>
            <a:ext cx="287060" cy="287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6544" y="229219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Smart Voting System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26544" y="2687955"/>
            <a:ext cx="1277719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Empower citizens to prioritise issues that matter the most. Users can upvote complaints, helping authorities identify high-impact problems faster and take action based on community demand.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12351" y="3627953"/>
            <a:ext cx="13205579" cy="1932742"/>
          </a:xfrm>
          <a:prstGeom prst="roundRect">
            <a:avLst>
              <a:gd name="adj" fmla="val 4159"/>
            </a:avLst>
          </a:prstGeom>
          <a:solidFill>
            <a:srgbClr val="FFFAF6"/>
          </a:solidFill>
          <a:ln w="22860">
            <a:solidFill>
              <a:srgbClr val="CCC4EC"/>
            </a:solidFill>
            <a:prstDash val="solid"/>
          </a:ln>
          <a:effectLst>
            <a:outerShdw dist="24130" dir="2700000" algn="bl" rotWithShape="0">
              <a:srgbClr val="CCC4E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35211" y="3650813"/>
            <a:ext cx="13159859" cy="574119"/>
          </a:xfrm>
          <a:prstGeom prst="roundRect">
            <a:avLst>
              <a:gd name="adj" fmla="val 9223"/>
            </a:avLst>
          </a:prstGeom>
          <a:solidFill>
            <a:srgbClr val="CCC4EC">
              <a:alpha val="50000"/>
            </a:srgbClr>
          </a:solidFill>
          <a:ln/>
          <a:effectLst>
            <a:outerShdw dist="24130" dir="2700000" algn="bl" rotWithShape="0">
              <a:srgbClr val="B2AA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1611" y="3790474"/>
            <a:ext cx="287060" cy="2870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6544" y="4386382"/>
            <a:ext cx="270045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Multi-Language Support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926544" y="4782145"/>
            <a:ext cx="1277719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Break language barriers by allowing users to interact with the platform in their preferred language. This ensures inclusivity and accessibility for a diverse population.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12351" y="5722144"/>
            <a:ext cx="13205579" cy="1932742"/>
          </a:xfrm>
          <a:prstGeom prst="roundRect">
            <a:avLst>
              <a:gd name="adj" fmla="val 4159"/>
            </a:avLst>
          </a:prstGeom>
          <a:solidFill>
            <a:srgbClr val="FFFAF6"/>
          </a:solidFill>
          <a:ln w="22860">
            <a:solidFill>
              <a:srgbClr val="B4DAE4"/>
            </a:solidFill>
            <a:prstDash val="solid"/>
          </a:ln>
          <a:effectLst>
            <a:outerShdw dist="24130" dir="2700000" algn="bl" rotWithShape="0">
              <a:srgbClr val="B4DAE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35211" y="5745004"/>
            <a:ext cx="13159859" cy="574119"/>
          </a:xfrm>
          <a:prstGeom prst="roundRect">
            <a:avLst>
              <a:gd name="adj" fmla="val 9223"/>
            </a:avLst>
          </a:prstGeom>
          <a:solidFill>
            <a:srgbClr val="B4DAE4">
              <a:alpha val="50000"/>
            </a:srgbClr>
          </a:solidFill>
          <a:ln/>
          <a:effectLst>
            <a:outerShdw dist="24130" dir="2700000" algn="bl" rotWithShape="0">
              <a:srgbClr val="9AC0CA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1611" y="5884664"/>
            <a:ext cx="287060" cy="2870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6544" y="648057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Community Section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926544" y="6876336"/>
            <a:ext cx="1277719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a collaborative space where users can discuss issues, share updates, and support each other. This builds transparency and encourages collective problem-solving.</a:t>
            </a:r>
            <a:endParaRPr lang="en-US" sz="15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537006-E787-9403-3C15-3D170521F4D0}"/>
              </a:ext>
            </a:extLst>
          </p:cNvPr>
          <p:cNvSpPr/>
          <p:nvPr/>
        </p:nvSpPr>
        <p:spPr>
          <a:xfrm>
            <a:off x="12603480" y="7561421"/>
            <a:ext cx="2026920" cy="66817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494586"/>
            <a:ext cx="4430197" cy="584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🌐</a:t>
            </a:r>
            <a:r>
              <a:rPr lang="en-US" sz="3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How It Works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60" y="1355646"/>
            <a:ext cx="885944" cy="1063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25754" y="1532811"/>
            <a:ext cx="29026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User Complaint (Text/Image)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460" y="2418874"/>
            <a:ext cx="885944" cy="10632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25754" y="2596039"/>
            <a:ext cx="256401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AI Processing (NLP + ML)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460" y="3482102"/>
            <a:ext cx="885944" cy="10632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25754" y="3659267"/>
            <a:ext cx="368284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Classification and Priority Detection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1460" y="4545330"/>
            <a:ext cx="885944" cy="106322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225754" y="472249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Duplicate Check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1460" y="5608558"/>
            <a:ext cx="885944" cy="106322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225754" y="5785723"/>
            <a:ext cx="233541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Routing to Department</a:t>
            </a:r>
            <a:endParaRPr lang="en-US" sz="17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1460" y="6671786"/>
            <a:ext cx="885944" cy="106322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225754" y="6848951"/>
            <a:ext cx="225968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Status Updates to User</a:t>
            </a:r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9BC299-3E40-9319-7A8B-F58D5583E103}"/>
              </a:ext>
            </a:extLst>
          </p:cNvPr>
          <p:cNvSpPr/>
          <p:nvPr/>
        </p:nvSpPr>
        <p:spPr>
          <a:xfrm>
            <a:off x="12603480" y="7561421"/>
            <a:ext cx="2026920" cy="66817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6014" y="516374"/>
            <a:ext cx="1000839" cy="292418"/>
          </a:xfrm>
          <a:prstGeom prst="roundRect">
            <a:avLst>
              <a:gd name="adj" fmla="val 19548"/>
            </a:avLst>
          </a:prstGeom>
          <a:solidFill>
            <a:srgbClr val="EE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548051" y="567333"/>
            <a:ext cx="796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WORKFLOW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46014" y="859750"/>
            <a:ext cx="4252913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🌐</a:t>
            </a:r>
            <a:r>
              <a:rPr lang="en-US" sz="33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Admin Workflow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446014" y="1868329"/>
            <a:ext cx="2838926" cy="1940481"/>
          </a:xfrm>
          <a:prstGeom prst="roundRect">
            <a:avLst>
              <a:gd name="adj" fmla="val 5655"/>
            </a:avLst>
          </a:prstGeom>
          <a:solidFill>
            <a:srgbClr val="FFFAF6"/>
          </a:solidFill>
          <a:ln/>
          <a:effectLst>
            <a:outerShdw dist="21590" dir="2700000" algn="bl" rotWithShape="0">
              <a:srgbClr val="E1C2C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46014" y="1845469"/>
            <a:ext cx="2838926" cy="91440"/>
          </a:xfrm>
          <a:prstGeom prst="roundRect">
            <a:avLst>
              <a:gd name="adj" fmla="val 78140"/>
            </a:avLst>
          </a:prstGeom>
          <a:solidFill>
            <a:srgbClr val="E1C2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610326" y="1613178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E1C2C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3441" y="1766173"/>
            <a:ext cx="204073" cy="2040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38895" y="2293620"/>
            <a:ext cx="213955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Complaint Dashboard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38895" y="2635806"/>
            <a:ext cx="245316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 views all incoming complaints in a centralized dashboard.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12456" y="1868329"/>
            <a:ext cx="2838926" cy="1940481"/>
          </a:xfrm>
          <a:prstGeom prst="roundRect">
            <a:avLst>
              <a:gd name="adj" fmla="val 5655"/>
            </a:avLst>
          </a:prstGeom>
          <a:solidFill>
            <a:srgbClr val="FFFAF6"/>
          </a:solidFill>
          <a:ln/>
          <a:effectLst>
            <a:outerShdw dist="21590" dir="2700000" algn="bl" rotWithShape="0">
              <a:srgbClr val="CCC4E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412456" y="1845469"/>
            <a:ext cx="2838926" cy="91440"/>
          </a:xfrm>
          <a:prstGeom prst="roundRect">
            <a:avLst>
              <a:gd name="adj" fmla="val 78140"/>
            </a:avLst>
          </a:prstGeom>
          <a:solidFill>
            <a:srgbClr val="CCC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576768" y="1613178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CCC4E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9883" y="1766173"/>
            <a:ext cx="204073" cy="2040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5338" y="2293620"/>
            <a:ext cx="217336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AI Suggestions Review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605338" y="2635806"/>
            <a:ext cx="245316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System suggests category, priority, and department — admin can override if needed.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378898" y="1868329"/>
            <a:ext cx="2838926" cy="1940481"/>
          </a:xfrm>
          <a:prstGeom prst="roundRect">
            <a:avLst>
              <a:gd name="adj" fmla="val 5655"/>
            </a:avLst>
          </a:prstGeom>
          <a:solidFill>
            <a:srgbClr val="FFFAF6"/>
          </a:solidFill>
          <a:ln/>
          <a:effectLst>
            <a:outerShdw dist="21590" dir="2700000" algn="bl" rotWithShape="0">
              <a:srgbClr val="B4DAE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378898" y="1845469"/>
            <a:ext cx="2838926" cy="91440"/>
          </a:xfrm>
          <a:prstGeom prst="roundRect">
            <a:avLst>
              <a:gd name="adj" fmla="val 78140"/>
            </a:avLst>
          </a:prstGeom>
          <a:solidFill>
            <a:srgbClr val="B4DA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543211" y="1613178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B4DAE4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6325" y="1766173"/>
            <a:ext cx="204073" cy="2040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571780" y="229362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High Priority Alerts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7571780" y="2635806"/>
            <a:ext cx="245316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Complaints with high votes or urgency are highlighted for immediate action.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0345341" y="1868329"/>
            <a:ext cx="2838926" cy="1940481"/>
          </a:xfrm>
          <a:prstGeom prst="roundRect">
            <a:avLst>
              <a:gd name="adj" fmla="val 5655"/>
            </a:avLst>
          </a:prstGeom>
          <a:solidFill>
            <a:srgbClr val="FFFAF6"/>
          </a:solidFill>
          <a:ln/>
          <a:effectLst>
            <a:outerShdw dist="21590" dir="2700000" algn="bl" rotWithShape="0">
              <a:srgbClr val="E1C2C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0345341" y="1845469"/>
            <a:ext cx="2838926" cy="91440"/>
          </a:xfrm>
          <a:prstGeom prst="roundRect">
            <a:avLst>
              <a:gd name="adj" fmla="val 78140"/>
            </a:avLst>
          </a:prstGeom>
          <a:solidFill>
            <a:srgbClr val="E1C2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11509653" y="1613178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E1C2C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62767" y="1766173"/>
            <a:ext cx="204073" cy="2040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38222" y="2293620"/>
            <a:ext cx="2453164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Assign / Reassign Departments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10538222" y="2901553"/>
            <a:ext cx="245316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 ensures the complaint is routed to the correct authority.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1446014" y="4191476"/>
            <a:ext cx="2838926" cy="1940481"/>
          </a:xfrm>
          <a:prstGeom prst="roundRect">
            <a:avLst>
              <a:gd name="adj" fmla="val 5655"/>
            </a:avLst>
          </a:prstGeom>
          <a:solidFill>
            <a:srgbClr val="FFFAF6"/>
          </a:solidFill>
          <a:ln/>
          <a:effectLst>
            <a:outerShdw dist="21590" dir="2700000" algn="bl" rotWithShape="0">
              <a:srgbClr val="CCC4E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1446014" y="4168616"/>
            <a:ext cx="2838926" cy="91440"/>
          </a:xfrm>
          <a:prstGeom prst="roundRect">
            <a:avLst>
              <a:gd name="adj" fmla="val 78140"/>
            </a:avLst>
          </a:prstGeom>
          <a:solidFill>
            <a:srgbClr val="CCC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2610326" y="3936325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CCC4E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3441" y="4089321"/>
            <a:ext cx="204073" cy="20407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638895" y="4616768"/>
            <a:ext cx="2453164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Monitor Duplicate &amp; Trends</a:t>
            </a:r>
            <a:endParaRPr lang="en-US" sz="1650" dirty="0"/>
          </a:p>
        </p:txBody>
      </p:sp>
      <p:sp>
        <p:nvSpPr>
          <p:cNvPr id="34" name="Text 27"/>
          <p:cNvSpPr/>
          <p:nvPr/>
        </p:nvSpPr>
        <p:spPr>
          <a:xfrm>
            <a:off x="1638895" y="5224701"/>
            <a:ext cx="24531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View clustered complaints and identify recurring city issues.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4412456" y="4191476"/>
            <a:ext cx="2838926" cy="1940481"/>
          </a:xfrm>
          <a:prstGeom prst="roundRect">
            <a:avLst>
              <a:gd name="adj" fmla="val 5655"/>
            </a:avLst>
          </a:prstGeom>
          <a:solidFill>
            <a:srgbClr val="FFFAF6"/>
          </a:solidFill>
          <a:ln/>
          <a:effectLst>
            <a:outerShdw dist="21590" dir="2700000" algn="bl" rotWithShape="0">
              <a:srgbClr val="B4DAE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4412456" y="4168616"/>
            <a:ext cx="2838926" cy="91440"/>
          </a:xfrm>
          <a:prstGeom prst="roundRect">
            <a:avLst>
              <a:gd name="adj" fmla="val 78140"/>
            </a:avLst>
          </a:prstGeom>
          <a:solidFill>
            <a:srgbClr val="B4DA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5576768" y="3936325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B4DAE4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9883" y="4089321"/>
            <a:ext cx="204073" cy="20407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605338" y="4616768"/>
            <a:ext cx="2453164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Respond &amp; Update Status</a:t>
            </a:r>
            <a:endParaRPr lang="en-US" sz="1650" dirty="0"/>
          </a:p>
        </p:txBody>
      </p:sp>
      <p:sp>
        <p:nvSpPr>
          <p:cNvPr id="40" name="Text 32"/>
          <p:cNvSpPr/>
          <p:nvPr/>
        </p:nvSpPr>
        <p:spPr>
          <a:xfrm>
            <a:off x="4605338" y="5224701"/>
            <a:ext cx="245316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 updates progress and communicates with users if needed.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7378898" y="4191476"/>
            <a:ext cx="2838926" cy="1940481"/>
          </a:xfrm>
          <a:prstGeom prst="roundRect">
            <a:avLst>
              <a:gd name="adj" fmla="val 5655"/>
            </a:avLst>
          </a:prstGeom>
          <a:solidFill>
            <a:srgbClr val="FFFAF6"/>
          </a:solidFill>
          <a:ln/>
          <a:effectLst>
            <a:outerShdw dist="21590" dir="2700000" algn="bl" rotWithShape="0">
              <a:srgbClr val="E1C2C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4"/>
          <p:cNvSpPr/>
          <p:nvPr/>
        </p:nvSpPr>
        <p:spPr>
          <a:xfrm>
            <a:off x="7378898" y="4168616"/>
            <a:ext cx="2838926" cy="91440"/>
          </a:xfrm>
          <a:prstGeom prst="roundRect">
            <a:avLst>
              <a:gd name="adj" fmla="val 78140"/>
            </a:avLst>
          </a:prstGeom>
          <a:solidFill>
            <a:srgbClr val="E1C2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35"/>
          <p:cNvSpPr/>
          <p:nvPr/>
        </p:nvSpPr>
        <p:spPr>
          <a:xfrm>
            <a:off x="8543211" y="3936325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E1C2C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6325" y="4089321"/>
            <a:ext cx="204073" cy="20407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571780" y="461676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Analytics &amp; Insights</a:t>
            </a:r>
            <a:endParaRPr lang="en-US" sz="1650" dirty="0"/>
          </a:p>
        </p:txBody>
      </p:sp>
      <p:sp>
        <p:nvSpPr>
          <p:cNvPr id="46" name="Text 37"/>
          <p:cNvSpPr/>
          <p:nvPr/>
        </p:nvSpPr>
        <p:spPr>
          <a:xfrm>
            <a:off x="7571780" y="4958953"/>
            <a:ext cx="245316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 shows resolution time, department performance, and complaint trends.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10345341" y="4191476"/>
            <a:ext cx="2838926" cy="1940481"/>
          </a:xfrm>
          <a:prstGeom prst="roundRect">
            <a:avLst>
              <a:gd name="adj" fmla="val 5655"/>
            </a:avLst>
          </a:prstGeom>
          <a:solidFill>
            <a:srgbClr val="FFFAF6"/>
          </a:solidFill>
          <a:ln/>
          <a:effectLst>
            <a:outerShdw dist="21590" dir="2700000" algn="bl" rotWithShape="0">
              <a:srgbClr val="CCC4E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39"/>
          <p:cNvSpPr/>
          <p:nvPr/>
        </p:nvSpPr>
        <p:spPr>
          <a:xfrm>
            <a:off x="10345341" y="4168616"/>
            <a:ext cx="2838926" cy="91440"/>
          </a:xfrm>
          <a:prstGeom prst="roundRect">
            <a:avLst>
              <a:gd name="adj" fmla="val 78140"/>
            </a:avLst>
          </a:prstGeom>
          <a:solidFill>
            <a:srgbClr val="CCC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0"/>
          <p:cNvSpPr/>
          <p:nvPr/>
        </p:nvSpPr>
        <p:spPr>
          <a:xfrm>
            <a:off x="11509653" y="3936325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CCC4E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62767" y="4089321"/>
            <a:ext cx="204073" cy="204073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0538222" y="461676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Mark as Resolved</a:t>
            </a:r>
            <a:endParaRPr lang="en-US" sz="1650" dirty="0"/>
          </a:p>
        </p:txBody>
      </p:sp>
      <p:sp>
        <p:nvSpPr>
          <p:cNvPr id="52" name="Text 42"/>
          <p:cNvSpPr/>
          <p:nvPr/>
        </p:nvSpPr>
        <p:spPr>
          <a:xfrm>
            <a:off x="10538222" y="4958953"/>
            <a:ext cx="24531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Final verification and closure of complaint.</a:t>
            </a:r>
            <a:endParaRPr lang="en-US" sz="1300" dirty="0"/>
          </a:p>
        </p:txBody>
      </p:sp>
      <p:sp>
        <p:nvSpPr>
          <p:cNvPr id="53" name="Shape 43"/>
          <p:cNvSpPr/>
          <p:nvPr/>
        </p:nvSpPr>
        <p:spPr>
          <a:xfrm>
            <a:off x="1446014" y="6514624"/>
            <a:ext cx="11738253" cy="1198483"/>
          </a:xfrm>
          <a:prstGeom prst="roundRect">
            <a:avLst>
              <a:gd name="adj" fmla="val 9156"/>
            </a:avLst>
          </a:prstGeom>
          <a:solidFill>
            <a:srgbClr val="FFFAF6"/>
          </a:solidFill>
          <a:ln/>
          <a:effectLst>
            <a:outerShdw dist="21590" dir="2700000" algn="bl" rotWithShape="0">
              <a:srgbClr val="B4DAE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44"/>
          <p:cNvSpPr/>
          <p:nvPr/>
        </p:nvSpPr>
        <p:spPr>
          <a:xfrm>
            <a:off x="1446014" y="6491764"/>
            <a:ext cx="11738253" cy="91440"/>
          </a:xfrm>
          <a:prstGeom prst="roundRect">
            <a:avLst>
              <a:gd name="adj" fmla="val 78140"/>
            </a:avLst>
          </a:prstGeom>
          <a:solidFill>
            <a:srgbClr val="B4DA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45"/>
          <p:cNvSpPr/>
          <p:nvPr/>
        </p:nvSpPr>
        <p:spPr>
          <a:xfrm>
            <a:off x="7059930" y="6259473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B4DAE4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13044" y="6412468"/>
            <a:ext cx="204073" cy="204073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638895" y="693991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Feedback Collection</a:t>
            </a:r>
            <a:endParaRPr lang="en-US" sz="1650" dirty="0"/>
          </a:p>
        </p:txBody>
      </p:sp>
      <p:sp>
        <p:nvSpPr>
          <p:cNvPr id="58" name="Text 47"/>
          <p:cNvSpPr/>
          <p:nvPr/>
        </p:nvSpPr>
        <p:spPr>
          <a:xfrm>
            <a:off x="1638895" y="7282101"/>
            <a:ext cx="113524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Users can rate resolution quality to help improve governance.</a:t>
            </a:r>
            <a:endParaRPr lang="en-US" sz="13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3DCD78A-C1C1-F224-6609-EE3C5CDC0397}"/>
              </a:ext>
            </a:extLst>
          </p:cNvPr>
          <p:cNvSpPr/>
          <p:nvPr/>
        </p:nvSpPr>
        <p:spPr>
          <a:xfrm>
            <a:off x="12603480" y="7561421"/>
            <a:ext cx="2026920" cy="66817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">
            <a:extLst>
              <a:ext uri="{FF2B5EF4-FFF2-40B4-BE49-F238E27FC236}">
                <a16:creationId xmlns:a16="http://schemas.microsoft.com/office/drawing/2014/main" id="{B20220F7-83BE-C964-47A5-371AF0BF0EBA}"/>
              </a:ext>
            </a:extLst>
          </p:cNvPr>
          <p:cNvSpPr/>
          <p:nvPr/>
        </p:nvSpPr>
        <p:spPr>
          <a:xfrm>
            <a:off x="7202507" y="1654095"/>
            <a:ext cx="4196358" cy="4072938"/>
          </a:xfrm>
          <a:prstGeom prst="roundRect">
            <a:avLst>
              <a:gd name="adj" fmla="val 2270"/>
            </a:avLst>
          </a:prstGeom>
          <a:solidFill>
            <a:srgbClr val="FFFAF6"/>
          </a:solidFill>
          <a:ln w="30480">
            <a:solidFill>
              <a:srgbClr val="E1C2C2"/>
            </a:solidFill>
            <a:prstDash val="solid"/>
          </a:ln>
          <a:effectLst>
            <a:outerShdw dist="29210" dir="2700000" algn="bl" rotWithShape="0">
              <a:srgbClr val="E1C2C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7DEE2C58-D8BE-DFCE-5546-EBA2B116EEE8}"/>
              </a:ext>
            </a:extLst>
          </p:cNvPr>
          <p:cNvSpPr/>
          <p:nvPr/>
        </p:nvSpPr>
        <p:spPr>
          <a:xfrm>
            <a:off x="493027" y="1693544"/>
            <a:ext cx="4836961" cy="5477277"/>
          </a:xfrm>
          <a:prstGeom prst="roundRect">
            <a:avLst>
              <a:gd name="adj" fmla="val 2270"/>
            </a:avLst>
          </a:prstGeom>
          <a:solidFill>
            <a:srgbClr val="FFFAF6"/>
          </a:solidFill>
          <a:ln w="30480">
            <a:solidFill>
              <a:srgbClr val="E1C2C2"/>
            </a:solidFill>
            <a:prstDash val="solid"/>
          </a:ln>
          <a:effectLst>
            <a:outerShdw dist="29210" dir="2700000" algn="bl" rotWithShape="0">
              <a:srgbClr val="E1C2C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793790" y="668178"/>
            <a:ext cx="5670590" cy="746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Tech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820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Frontend: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476349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React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TypeScript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Tailwind CSS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9210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Backend: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4864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Node.js + Express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</a:rPr>
              <a:t>JWT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</a:rPr>
              <a:t>Leaflet</a:t>
            </a:r>
          </a:p>
        </p:txBody>
      </p:sp>
      <p:sp>
        <p:nvSpPr>
          <p:cNvPr id="7" name="Text 5"/>
          <p:cNvSpPr/>
          <p:nvPr/>
        </p:nvSpPr>
        <p:spPr>
          <a:xfrm>
            <a:off x="793790" y="599705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Database: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89" y="642234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MongoDB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19820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AI/ML: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2634138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 err="1">
                <a:solidFill>
                  <a:srgbClr val="6F655D"/>
                </a:solidFill>
                <a:latin typeface="Public Sans" pitchFamily="34" charset="0"/>
              </a:rPr>
              <a:t>Langchain</a:t>
            </a:r>
            <a:r>
              <a:rPr lang="en-US" sz="1750" dirty="0">
                <a:solidFill>
                  <a:srgbClr val="6F655D"/>
                </a:solidFill>
                <a:latin typeface="Public Sans" pitchFamily="34" charset="0"/>
              </a:rPr>
              <a:t> </a:t>
            </a:r>
          </a:p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 err="1">
                <a:solidFill>
                  <a:srgbClr val="6F655D"/>
                </a:solidFill>
                <a:latin typeface="Public Sans" pitchFamily="34" charset="0"/>
              </a:rPr>
              <a:t>Pytorch</a:t>
            </a:r>
            <a:endParaRPr lang="en-US" sz="1750" dirty="0">
              <a:solidFill>
                <a:srgbClr val="6F655D"/>
              </a:solidFill>
              <a:latin typeface="Public Sans" pitchFamily="34" charset="0"/>
            </a:endParaRPr>
          </a:p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</a:rPr>
              <a:t>Transformers </a:t>
            </a:r>
            <a:br>
              <a:rPr lang="en-US" sz="1750" dirty="0">
                <a:solidFill>
                  <a:srgbClr val="6F655D"/>
                </a:solidFill>
                <a:latin typeface="Public Sans" pitchFamily="34" charset="0"/>
              </a:rPr>
            </a:br>
            <a:endParaRPr lang="en-US" sz="1750" dirty="0">
              <a:solidFill>
                <a:srgbClr val="6F655D"/>
              </a:solidFill>
              <a:latin typeface="Public Sans" pitchFamily="34" charset="0"/>
            </a:endParaRPr>
          </a:p>
          <a:p>
            <a:pPr algn="l">
              <a:lnSpc>
                <a:spcPts val="2850"/>
              </a:lnSpc>
              <a:buSzPct val="100000"/>
            </a:pPr>
            <a:br>
              <a:rPr lang="en-US" sz="1750" dirty="0">
                <a:solidFill>
                  <a:srgbClr val="6F655D"/>
                </a:solidFill>
                <a:latin typeface="Public Sans" pitchFamily="34" charset="0"/>
              </a:rPr>
            </a:b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10825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Integrations: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599521" y="4760356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Cloudinary (image upload)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WhatsApp / SMS APIs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DC6CEF-D468-AE04-12F0-4B75CF3169F5}"/>
              </a:ext>
            </a:extLst>
          </p:cNvPr>
          <p:cNvSpPr/>
          <p:nvPr/>
        </p:nvSpPr>
        <p:spPr>
          <a:xfrm>
            <a:off x="12603480" y="7561421"/>
            <a:ext cx="2026920" cy="66817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636B3-89BB-5B4A-BC85-7BD7A8DB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C8A2472-7CD8-6C8E-B644-CE3A6BCEF143}"/>
              </a:ext>
            </a:extLst>
          </p:cNvPr>
          <p:cNvSpPr/>
          <p:nvPr/>
        </p:nvSpPr>
        <p:spPr>
          <a:xfrm>
            <a:off x="1275053" y="1930485"/>
            <a:ext cx="7556421" cy="5781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Team Name: SDLC			</a:t>
            </a:r>
            <a:r>
              <a:rPr lang="en-US" sz="3600" dirty="0">
                <a:solidFill>
                  <a:srgbClr val="4B6981"/>
                </a:solidFill>
                <a:latin typeface="Playfair Display Semi Bold" pitchFamily="34" charset="0"/>
              </a:rPr>
              <a:t> College: IIIT Nagpur</a:t>
            </a:r>
            <a:endParaRPr lang="en-US" sz="3600" dirty="0">
              <a:solidFill>
                <a:srgbClr val="4B6981"/>
              </a:solidFill>
              <a:latin typeface="Playfair Display Semi Bold" pitchFamily="34" charset="0"/>
              <a:ea typeface="Playfair Display Semi Bold" pitchFamily="34" charset="-122"/>
              <a:cs typeface="Playfair Display Semi Bold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br>
              <a:rPr lang="en-US" sz="36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</a:br>
            <a:r>
              <a:rPr lang="en-US" sz="36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Team Member:</a:t>
            </a:r>
          </a:p>
          <a:p>
            <a:pPr marL="685800" indent="-685800" algn="l">
              <a:lnSpc>
                <a:spcPts val="555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Sparsh Gupta</a:t>
            </a:r>
          </a:p>
          <a:p>
            <a:pPr marL="685800" indent="-685800" algn="l">
              <a:lnSpc>
                <a:spcPts val="555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4B6981"/>
                </a:solidFill>
                <a:latin typeface="Playfair Display Semi Bold" pitchFamily="34" charset="0"/>
              </a:rPr>
              <a:t>Shresth Singh</a:t>
            </a:r>
          </a:p>
          <a:p>
            <a:pPr marL="685800" indent="-685800" algn="l">
              <a:lnSpc>
                <a:spcPts val="555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4B6981"/>
                </a:solidFill>
                <a:latin typeface="Playfair Display Semi Bold" pitchFamily="34" charset="0"/>
              </a:rPr>
              <a:t>Aryan Thakur</a:t>
            </a:r>
          </a:p>
          <a:p>
            <a:pPr marL="685800" indent="-685800" algn="l">
              <a:lnSpc>
                <a:spcPts val="555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4B6981"/>
                </a:solidFill>
                <a:latin typeface="Playfair Display Semi Bold" pitchFamily="34" charset="0"/>
              </a:rPr>
              <a:t>Atharva </a:t>
            </a:r>
            <a:r>
              <a:rPr lang="en-US" sz="3600" dirty="0" err="1">
                <a:solidFill>
                  <a:srgbClr val="4B6981"/>
                </a:solidFill>
                <a:latin typeface="Playfair Display Semi Bold" pitchFamily="34" charset="0"/>
              </a:rPr>
              <a:t>Gaykar</a:t>
            </a:r>
            <a:br>
              <a:rPr lang="en-US" sz="4450" dirty="0">
                <a:solidFill>
                  <a:srgbClr val="4B6981"/>
                </a:solidFill>
                <a:latin typeface="Playfair Display Semi Bold" pitchFamily="34" charset="0"/>
              </a:rPr>
            </a:br>
            <a:endParaRPr lang="en-US" sz="4450" dirty="0">
              <a:solidFill>
                <a:srgbClr val="4B6981"/>
              </a:solidFill>
              <a:latin typeface="Playfair Display Semi Bold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C24603-7038-133F-1087-13DE8B5F035D}"/>
              </a:ext>
            </a:extLst>
          </p:cNvPr>
          <p:cNvSpPr/>
          <p:nvPr/>
        </p:nvSpPr>
        <p:spPr>
          <a:xfrm>
            <a:off x="12603480" y="7561421"/>
            <a:ext cx="2026920" cy="66817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14B03F7B-8C02-C2A1-EDDB-056AA9CA8D93}"/>
              </a:ext>
            </a:extLst>
          </p:cNvPr>
          <p:cNvSpPr/>
          <p:nvPr/>
        </p:nvSpPr>
        <p:spPr>
          <a:xfrm>
            <a:off x="1166769" y="56540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Team Details:</a:t>
            </a:r>
            <a:endParaRPr lang="en-US" sz="4450" b="1" dirty="0"/>
          </a:p>
        </p:txBody>
      </p:sp>
    </p:spTree>
    <p:extLst>
      <p:ext uri="{BB962C8B-B14F-4D97-AF65-F5344CB8AC3E}">
        <p14:creationId xmlns:p14="http://schemas.microsoft.com/office/powerpoint/2010/main" val="767524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691</Words>
  <Application>Microsoft Office PowerPoint</Application>
  <PresentationFormat>Custom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Public Sans</vt:lpstr>
      <vt:lpstr>Arial</vt:lpstr>
      <vt:lpstr>Playfair Display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SRIJAN SINGH</cp:lastModifiedBy>
  <cp:revision>2</cp:revision>
  <dcterms:created xsi:type="dcterms:W3CDTF">2026-04-12T05:01:17Z</dcterms:created>
  <dcterms:modified xsi:type="dcterms:W3CDTF">2026-04-12T05:14:58Z</dcterms:modified>
</cp:coreProperties>
</file>